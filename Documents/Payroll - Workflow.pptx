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g8f3XEjMouDE73nYOVwHdbDVEF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3104FC-2636-410D-A31F-1D82145D3CAC}">
  <a:tblStyle styleId="{F93104FC-2636-410D-A31F-1D82145D3CA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h-TH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4991376" y="357806"/>
            <a:ext cx="2196548" cy="805070"/>
          </a:xfrm>
          <a:prstGeom prst="parallelogram">
            <a:avLst>
              <a:gd fmla="val 41049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-TH" sz="1800" u="none" cap="none" strike="noStrike">
                <a:solidFill>
                  <a:schemeClr val="dk1"/>
                </a:solidFill>
                <a:latin typeface="Cordia New"/>
                <a:ea typeface="Cordia New"/>
                <a:cs typeface="Cordia New"/>
                <a:sym typeface="Cordia New"/>
              </a:rPr>
              <a:t>นำเข้าข้อมูลบุคลากรจาก PMIS</a:t>
            </a:r>
            <a:endParaRPr/>
          </a:p>
        </p:txBody>
      </p:sp>
      <p:sp>
        <p:nvSpPr>
          <p:cNvPr id="85" name="Google Shape;85;p1"/>
          <p:cNvSpPr/>
          <p:nvPr/>
        </p:nvSpPr>
        <p:spPr>
          <a:xfrm>
            <a:off x="5177735" y="2169607"/>
            <a:ext cx="1823830" cy="1510748"/>
          </a:xfrm>
          <a:prstGeom prst="diamond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-TH" sz="1800" u="none" cap="none" strike="noStrike">
                <a:solidFill>
                  <a:schemeClr val="dk1"/>
                </a:solidFill>
                <a:latin typeface="Cordia New"/>
                <a:ea typeface="Cordia New"/>
                <a:cs typeface="Cordia New"/>
                <a:sym typeface="Cordia New"/>
              </a:rPr>
              <a:t>งานคลังตรวจสอบข้อมูล</a:t>
            </a:r>
            <a:endParaRPr b="0" i="0" sz="1800" u="none" cap="none" strike="noStrike">
              <a:solidFill>
                <a:schemeClr val="dk1"/>
              </a:solidFill>
              <a:latin typeface="Cordia New"/>
              <a:ea typeface="Cordia New"/>
              <a:cs typeface="Cordia New"/>
              <a:sym typeface="Cordia New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619951" y="2612783"/>
            <a:ext cx="1823830" cy="62439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-TH" sz="1800" u="none" cap="none" strike="noStrike">
                <a:solidFill>
                  <a:schemeClr val="dk1"/>
                </a:solidFill>
                <a:latin typeface="Cordia New"/>
                <a:ea typeface="Cordia New"/>
                <a:cs typeface="Cordia New"/>
                <a:sym typeface="Cordia New"/>
              </a:rPr>
              <a:t>กดยืนยันทั้งหมด</a:t>
            </a:r>
            <a:endParaRPr b="0" i="0" sz="1800" u="none" cap="none" strike="noStrike">
              <a:solidFill>
                <a:schemeClr val="dk1"/>
              </a:solidFill>
              <a:latin typeface="Cordia New"/>
              <a:ea typeface="Cordia New"/>
              <a:cs typeface="Cordia New"/>
              <a:sym typeface="Cordia New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7477539" y="3694492"/>
            <a:ext cx="1823830" cy="6261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-TH" sz="1800" u="none" cap="none" strike="noStrike">
                <a:solidFill>
                  <a:schemeClr val="dk1"/>
                </a:solidFill>
                <a:latin typeface="Cordia New"/>
                <a:ea typeface="Cordia New"/>
                <a:cs typeface="Cordia New"/>
                <a:sym typeface="Cordia New"/>
              </a:rPr>
              <a:t>ยกเลิกข้อมูลของบางคน</a:t>
            </a:r>
            <a:endParaRPr b="0" i="0" sz="1800" u="none" cap="none" strike="noStrike">
              <a:solidFill>
                <a:schemeClr val="dk1"/>
              </a:solidFill>
              <a:latin typeface="Cordia New"/>
              <a:ea typeface="Cordia New"/>
              <a:cs typeface="Cordia New"/>
              <a:sym typeface="Cordia New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8762999" y="2612783"/>
            <a:ext cx="1823830" cy="626165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-TH" sz="1800" u="none" cap="none" strike="noStrike">
                <a:solidFill>
                  <a:schemeClr val="dk1"/>
                </a:solidFill>
                <a:latin typeface="Cordia New"/>
                <a:ea typeface="Cordia New"/>
                <a:cs typeface="Cordia New"/>
                <a:sym typeface="Cordia New"/>
              </a:rPr>
              <a:t>ยกเลิกทั้งชุดข้อมูล</a:t>
            </a:r>
            <a:endParaRPr b="0" i="0" sz="1800" u="none" cap="none" strike="noStrike">
              <a:solidFill>
                <a:schemeClr val="dk1"/>
              </a:solidFill>
              <a:latin typeface="Cordia New"/>
              <a:ea typeface="Cordia New"/>
              <a:cs typeface="Cordia New"/>
              <a:sym typeface="Cordia New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3861353" y="2539896"/>
            <a:ext cx="1497496" cy="385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-TH" sz="1800" u="none" cap="none" strike="noStrike">
                <a:solidFill>
                  <a:schemeClr val="dk1"/>
                </a:solidFill>
                <a:latin typeface="Cordia New"/>
                <a:ea typeface="Cordia New"/>
                <a:cs typeface="Cordia New"/>
                <a:sym typeface="Cordia New"/>
              </a:rPr>
              <a:t>ข้อมูลถูกต้อง</a:t>
            </a:r>
            <a:endParaRPr b="0" i="0" sz="1800" u="none" cap="none" strike="noStrike">
              <a:solidFill>
                <a:schemeClr val="dk1"/>
              </a:solidFill>
              <a:latin typeface="Cordia New"/>
              <a:ea typeface="Cordia New"/>
              <a:cs typeface="Cordia New"/>
              <a:sym typeface="Cordia New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7136709" y="2539896"/>
            <a:ext cx="1497496" cy="385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-TH" sz="1800" u="none" cap="none" strike="noStrike">
                <a:solidFill>
                  <a:schemeClr val="dk1"/>
                </a:solidFill>
                <a:latin typeface="Cordia New"/>
                <a:ea typeface="Cordia New"/>
                <a:cs typeface="Cordia New"/>
                <a:sym typeface="Cordia New"/>
              </a:rPr>
              <a:t>ข้อมูลไม่ถูกต้อง</a:t>
            </a:r>
            <a:endParaRPr b="0" i="0" sz="1800" u="none" cap="none" strike="noStrike">
              <a:solidFill>
                <a:schemeClr val="dk1"/>
              </a:solidFill>
              <a:latin typeface="Cordia New"/>
              <a:ea typeface="Cordia New"/>
              <a:cs typeface="Cordia New"/>
              <a:sym typeface="Cordia New"/>
            </a:endParaRPr>
          </a:p>
        </p:txBody>
      </p:sp>
      <p:cxnSp>
        <p:nvCxnSpPr>
          <p:cNvPr id="91" name="Google Shape;91;p1"/>
          <p:cNvCxnSpPr>
            <a:endCxn id="87" idx="0"/>
          </p:cNvCxnSpPr>
          <p:nvPr/>
        </p:nvCxnSpPr>
        <p:spPr>
          <a:xfrm>
            <a:off x="7007954" y="2925892"/>
            <a:ext cx="1381500" cy="7686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lg" w="lg" type="stealth"/>
          </a:ln>
        </p:spPr>
      </p:cxnSp>
      <p:cxnSp>
        <p:nvCxnSpPr>
          <p:cNvPr id="92" name="Google Shape;92;p1"/>
          <p:cNvCxnSpPr>
            <a:endCxn id="88" idx="1"/>
          </p:cNvCxnSpPr>
          <p:nvPr/>
        </p:nvCxnSpPr>
        <p:spPr>
          <a:xfrm>
            <a:off x="7007999" y="2925866"/>
            <a:ext cx="17550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lg" w="lg" type="stealth"/>
          </a:ln>
        </p:spPr>
      </p:cxnSp>
      <p:cxnSp>
        <p:nvCxnSpPr>
          <p:cNvPr id="93" name="Google Shape;93;p1"/>
          <p:cNvCxnSpPr>
            <a:stCxn id="84" idx="4"/>
            <a:endCxn id="85" idx="0"/>
          </p:cNvCxnSpPr>
          <p:nvPr/>
        </p:nvCxnSpPr>
        <p:spPr>
          <a:xfrm>
            <a:off x="6089650" y="1162876"/>
            <a:ext cx="0" cy="100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lg" w="lg" type="stealth"/>
          </a:ln>
        </p:spPr>
      </p:cxnSp>
      <p:cxnSp>
        <p:nvCxnSpPr>
          <p:cNvPr id="94" name="Google Shape;94;p1"/>
          <p:cNvCxnSpPr>
            <a:endCxn id="86" idx="3"/>
          </p:cNvCxnSpPr>
          <p:nvPr/>
        </p:nvCxnSpPr>
        <p:spPr>
          <a:xfrm rot="10800000">
            <a:off x="3443781" y="2924981"/>
            <a:ext cx="1288500" cy="9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lg" w="lg" type="stealth"/>
          </a:ln>
        </p:spPr>
      </p:cxnSp>
      <p:sp>
        <p:nvSpPr>
          <p:cNvPr id="95" name="Google Shape;95;p1"/>
          <p:cNvSpPr/>
          <p:nvPr/>
        </p:nvSpPr>
        <p:spPr>
          <a:xfrm>
            <a:off x="7478365" y="357806"/>
            <a:ext cx="2867756" cy="805070"/>
          </a:xfrm>
          <a:prstGeom prst="parallelogram">
            <a:avLst>
              <a:gd fmla="val 41049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-TH" sz="1800" u="none" cap="none" strike="noStrike">
                <a:solidFill>
                  <a:schemeClr val="dk1"/>
                </a:solidFill>
                <a:latin typeface="Cordia New"/>
                <a:ea typeface="Cordia New"/>
                <a:cs typeface="Cordia New"/>
                <a:sym typeface="Cordia New"/>
              </a:rPr>
              <a:t>นำเข้าข้อมูลรายได้ จาก บทม, บริการสังคม, หน่วยงาน (OT)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7472824" y="1331983"/>
            <a:ext cx="2873297" cy="805070"/>
          </a:xfrm>
          <a:prstGeom prst="parallelogram">
            <a:avLst>
              <a:gd fmla="val 41049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-TH" sz="1800" u="none" cap="none" strike="noStrike">
                <a:solidFill>
                  <a:schemeClr val="dk1"/>
                </a:solidFill>
                <a:latin typeface="Cordia New"/>
                <a:ea typeface="Cordia New"/>
                <a:cs typeface="Cordia New"/>
                <a:sym typeface="Cordia New"/>
              </a:rPr>
              <a:t>นำเข้ารายการที่หักออกจากรายได้ จาก บทม, งานคลัง</a:t>
            </a:r>
            <a:endParaRPr b="0" i="0" sz="1800" u="none" cap="none" strike="noStrike">
              <a:solidFill>
                <a:schemeClr val="dk1"/>
              </a:solidFill>
              <a:latin typeface="Cordia New"/>
              <a:ea typeface="Cordia New"/>
              <a:cs typeface="Cordia New"/>
              <a:sym typeface="Cordia New"/>
            </a:endParaRPr>
          </a:p>
        </p:txBody>
      </p:sp>
      <p:cxnSp>
        <p:nvCxnSpPr>
          <p:cNvPr id="97" name="Google Shape;97;p1"/>
          <p:cNvCxnSpPr>
            <a:stCxn id="96" idx="5"/>
          </p:cNvCxnSpPr>
          <p:nvPr/>
        </p:nvCxnSpPr>
        <p:spPr>
          <a:xfrm flipH="1">
            <a:off x="6102361" y="1734518"/>
            <a:ext cx="1535700" cy="197100"/>
          </a:xfrm>
          <a:prstGeom prst="bentConnector3">
            <a:avLst>
              <a:gd fmla="val 50000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lg" w="lg" type="stealth"/>
          </a:ln>
        </p:spPr>
      </p:cxnSp>
      <p:cxnSp>
        <p:nvCxnSpPr>
          <p:cNvPr id="98" name="Google Shape;98;p1"/>
          <p:cNvCxnSpPr>
            <a:stCxn id="95" idx="5"/>
          </p:cNvCxnSpPr>
          <p:nvPr/>
        </p:nvCxnSpPr>
        <p:spPr>
          <a:xfrm flipH="1">
            <a:off x="6102202" y="760341"/>
            <a:ext cx="1541400" cy="813600"/>
          </a:xfrm>
          <a:prstGeom prst="bentConnector3">
            <a:avLst>
              <a:gd fmla="val 30903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lg" w="lg" type="stealth"/>
          </a:ln>
        </p:spPr>
      </p:cxnSp>
      <p:cxnSp>
        <p:nvCxnSpPr>
          <p:cNvPr id="99" name="Google Shape;99;p1"/>
          <p:cNvCxnSpPr>
            <a:stCxn id="88" idx="3"/>
            <a:endCxn id="96" idx="2"/>
          </p:cNvCxnSpPr>
          <p:nvPr/>
        </p:nvCxnSpPr>
        <p:spPr>
          <a:xfrm rot="10800000">
            <a:off x="10180929" y="1734565"/>
            <a:ext cx="405900" cy="1191300"/>
          </a:xfrm>
          <a:prstGeom prst="bentConnector3">
            <a:avLst>
              <a:gd fmla="val -56319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lg" w="lg" type="stealth"/>
          </a:ln>
        </p:spPr>
      </p:cxnSp>
      <p:cxnSp>
        <p:nvCxnSpPr>
          <p:cNvPr id="100" name="Google Shape;100;p1"/>
          <p:cNvCxnSpPr>
            <a:stCxn id="88" idx="3"/>
            <a:endCxn id="95" idx="2"/>
          </p:cNvCxnSpPr>
          <p:nvPr/>
        </p:nvCxnSpPr>
        <p:spPr>
          <a:xfrm rot="10800000">
            <a:off x="10180929" y="760465"/>
            <a:ext cx="405900" cy="2165400"/>
          </a:xfrm>
          <a:prstGeom prst="bentConnector3">
            <a:avLst>
              <a:gd fmla="val -56319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lg" w="lg" type="stealth"/>
          </a:ln>
        </p:spPr>
      </p:cxnSp>
      <p:cxnSp>
        <p:nvCxnSpPr>
          <p:cNvPr id="101" name="Google Shape;101;p1"/>
          <p:cNvCxnSpPr>
            <a:stCxn id="87" idx="3"/>
            <a:endCxn id="95" idx="2"/>
          </p:cNvCxnSpPr>
          <p:nvPr/>
        </p:nvCxnSpPr>
        <p:spPr>
          <a:xfrm flipH="1" rot="10800000">
            <a:off x="9301369" y="760375"/>
            <a:ext cx="879600" cy="3247200"/>
          </a:xfrm>
          <a:prstGeom prst="bentConnector3">
            <a:avLst>
              <a:gd fmla="val 218849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lg" w="lg" type="stealth"/>
          </a:ln>
        </p:spPr>
      </p:cxnSp>
      <p:cxnSp>
        <p:nvCxnSpPr>
          <p:cNvPr id="102" name="Google Shape;102;p1"/>
          <p:cNvCxnSpPr>
            <a:stCxn id="87" idx="3"/>
            <a:endCxn id="96" idx="2"/>
          </p:cNvCxnSpPr>
          <p:nvPr/>
        </p:nvCxnSpPr>
        <p:spPr>
          <a:xfrm flipH="1" rot="10800000">
            <a:off x="9301369" y="1734475"/>
            <a:ext cx="879600" cy="2273100"/>
          </a:xfrm>
          <a:prstGeom prst="bentConnector3">
            <a:avLst>
              <a:gd fmla="val 218849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lg" w="lg" type="stealth"/>
          </a:ln>
        </p:spPr>
      </p:cxnSp>
      <p:sp>
        <p:nvSpPr>
          <p:cNvPr id="103" name="Google Shape;103;p1"/>
          <p:cNvSpPr/>
          <p:nvPr/>
        </p:nvSpPr>
        <p:spPr>
          <a:xfrm>
            <a:off x="3486375" y="3420533"/>
            <a:ext cx="1823830" cy="624396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-TH" sz="1800" u="none" cap="none" strike="noStrike">
                <a:solidFill>
                  <a:schemeClr val="dk1"/>
                </a:solidFill>
                <a:latin typeface="Cordia New"/>
                <a:ea typeface="Cordia New"/>
                <a:cs typeface="Cordia New"/>
                <a:sym typeface="Cordia New"/>
              </a:rPr>
              <a:t>กดยืนยันบางคน</a:t>
            </a:r>
            <a:endParaRPr b="0" i="0" sz="1800" u="none" cap="none" strike="noStrike">
              <a:solidFill>
                <a:schemeClr val="dk1"/>
              </a:solidFill>
              <a:latin typeface="Cordia New"/>
              <a:ea typeface="Cordia New"/>
              <a:cs typeface="Cordia New"/>
              <a:sym typeface="Cordia New"/>
            </a:endParaRPr>
          </a:p>
        </p:txBody>
      </p:sp>
      <p:cxnSp>
        <p:nvCxnSpPr>
          <p:cNvPr id="104" name="Google Shape;104;p1"/>
          <p:cNvCxnSpPr>
            <a:stCxn id="85" idx="1"/>
            <a:endCxn id="103" idx="0"/>
          </p:cNvCxnSpPr>
          <p:nvPr/>
        </p:nvCxnSpPr>
        <p:spPr>
          <a:xfrm flipH="1">
            <a:off x="4398335" y="2924981"/>
            <a:ext cx="779400" cy="495600"/>
          </a:xfrm>
          <a:prstGeom prst="bentConnector2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lg" w="lg" type="stealth"/>
          </a:ln>
        </p:spPr>
      </p:cxnSp>
      <p:sp>
        <p:nvSpPr>
          <p:cNvPr id="105" name="Google Shape;105;p1"/>
          <p:cNvSpPr/>
          <p:nvPr/>
        </p:nvSpPr>
        <p:spPr>
          <a:xfrm>
            <a:off x="715776" y="5096930"/>
            <a:ext cx="2268035" cy="9675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-TH" sz="1800" u="none" cap="none" strike="noStrike">
                <a:solidFill>
                  <a:schemeClr val="dk1"/>
                </a:solidFill>
                <a:latin typeface="Cordia New"/>
                <a:ea typeface="Cordia New"/>
                <a:cs typeface="Cordia New"/>
                <a:sym typeface="Cordia New"/>
              </a:rPr>
              <a:t>แสดงข้อมูลบนหน้าจอของระบบได้ทั้ง admin และ user</a:t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3684948" y="5096930"/>
            <a:ext cx="2268035" cy="9675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th-TH" sz="1800" u="none" cap="none" strike="noStrike">
                <a:solidFill>
                  <a:schemeClr val="dk1"/>
                </a:solidFill>
                <a:latin typeface="Cordia New"/>
                <a:ea typeface="Cordia New"/>
                <a:cs typeface="Cordia New"/>
                <a:sym typeface="Cordia New"/>
              </a:rPr>
              <a:t>สั่ง export เป็น excel ตามรูปแบบเพื่อส่งให้ธนาคารดำเนินการต่อ</a:t>
            </a:r>
            <a:endParaRPr b="0" i="0" sz="1800" u="none" cap="none" strike="noStrike">
              <a:solidFill>
                <a:schemeClr val="dk1"/>
              </a:solidFill>
              <a:latin typeface="Cordia New"/>
              <a:ea typeface="Cordia New"/>
              <a:cs typeface="Cordia New"/>
              <a:sym typeface="Cordia New"/>
            </a:endParaRPr>
          </a:p>
        </p:txBody>
      </p:sp>
      <p:cxnSp>
        <p:nvCxnSpPr>
          <p:cNvPr id="107" name="Google Shape;107;p1"/>
          <p:cNvCxnSpPr>
            <a:stCxn id="103" idx="2"/>
            <a:endCxn id="106" idx="0"/>
          </p:cNvCxnSpPr>
          <p:nvPr/>
        </p:nvCxnSpPr>
        <p:spPr>
          <a:xfrm flipH="1" rot="-5400000">
            <a:off x="4082540" y="4360679"/>
            <a:ext cx="1052100" cy="420600"/>
          </a:xfrm>
          <a:prstGeom prst="bentConnector3">
            <a:avLst>
              <a:gd fmla="val 49995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lg" w="lg" type="stealth"/>
          </a:ln>
        </p:spPr>
      </p:cxnSp>
      <p:cxnSp>
        <p:nvCxnSpPr>
          <p:cNvPr id="108" name="Google Shape;108;p1"/>
          <p:cNvCxnSpPr>
            <a:stCxn id="103" idx="2"/>
            <a:endCxn id="105" idx="0"/>
          </p:cNvCxnSpPr>
          <p:nvPr/>
        </p:nvCxnSpPr>
        <p:spPr>
          <a:xfrm rot="5400000">
            <a:off x="2597990" y="3296729"/>
            <a:ext cx="1052100" cy="2548500"/>
          </a:xfrm>
          <a:prstGeom prst="bentConnector3">
            <a:avLst>
              <a:gd fmla="val 49995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lg" w="lg" type="stealth"/>
          </a:ln>
        </p:spPr>
      </p:cxnSp>
      <p:cxnSp>
        <p:nvCxnSpPr>
          <p:cNvPr id="109" name="Google Shape;109;p1"/>
          <p:cNvCxnSpPr>
            <a:stCxn id="86" idx="2"/>
            <a:endCxn id="105" idx="0"/>
          </p:cNvCxnSpPr>
          <p:nvPr/>
        </p:nvCxnSpPr>
        <p:spPr>
          <a:xfrm rot="5400000">
            <a:off x="1260916" y="3825929"/>
            <a:ext cx="1859700" cy="682200"/>
          </a:xfrm>
          <a:prstGeom prst="bentConnector3">
            <a:avLst>
              <a:gd fmla="val 50001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lg" w="lg" type="stealth"/>
          </a:ln>
        </p:spPr>
      </p:cxnSp>
      <p:cxnSp>
        <p:nvCxnSpPr>
          <p:cNvPr id="110" name="Google Shape;110;p1"/>
          <p:cNvCxnSpPr>
            <a:stCxn id="86" idx="2"/>
            <a:endCxn id="106" idx="0"/>
          </p:cNvCxnSpPr>
          <p:nvPr/>
        </p:nvCxnSpPr>
        <p:spPr>
          <a:xfrm flipH="1" rot="-5400000">
            <a:off x="2745616" y="3023429"/>
            <a:ext cx="1859700" cy="2287200"/>
          </a:xfrm>
          <a:prstGeom prst="bentConnector3">
            <a:avLst>
              <a:gd fmla="val 50001" name="adj1"/>
            </a:avLst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lg" w="lg" type="stealth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>
            <p:ph type="title"/>
          </p:nvPr>
        </p:nvSpPr>
        <p:spPr>
          <a:xfrm>
            <a:off x="838200" y="365126"/>
            <a:ext cx="10515600" cy="737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th-TH"/>
              <a:t>2026.05.25</a:t>
            </a:r>
            <a:endParaRPr/>
          </a:p>
        </p:txBody>
      </p:sp>
      <p:sp>
        <p:nvSpPr>
          <p:cNvPr id="116" name="Google Shape;116;p2"/>
          <p:cNvSpPr txBox="1"/>
          <p:nvPr>
            <p:ph idx="1" type="body"/>
          </p:nvPr>
        </p:nvSpPr>
        <p:spPr>
          <a:xfrm>
            <a:off x="838200" y="1219200"/>
            <a:ext cx="10515600" cy="4957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h-TH">
                <a:latin typeface="Cordia New"/>
                <a:ea typeface="Cordia New"/>
                <a:cs typeface="Cordia New"/>
                <a:sym typeface="Cordia New"/>
              </a:rPr>
              <a:t>อยากให้ทำระบบเงินเดือน + ค่าครองชีพก่อน มีหัก สอมธ, ลากิจ, ลาป่วย, กยศ, กรอ, ประกันสังคม, กองทุนสำรอง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h-TH">
                <a:latin typeface="Cordia New"/>
                <a:ea typeface="Cordia New"/>
                <a:cs typeface="Cordia New"/>
                <a:sym typeface="Cordia New"/>
              </a:rPr>
              <a:t>ขอ API จากทาง สอมธ ว่าได้ไหม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h-TH">
                <a:latin typeface="Cordia New"/>
                <a:ea typeface="Cordia New"/>
                <a:cs typeface="Cordia New"/>
                <a:sym typeface="Cordia New"/>
              </a:rPr>
              <a:t>รายได้หน่วยงานมีแยกแหล่งที่มาของงบประมาณจาก 3 แหล่ง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h-TH">
                <a:latin typeface="Cordia New"/>
                <a:ea typeface="Cordia New"/>
                <a:cs typeface="Cordia New"/>
                <a:sym typeface="Cordia New"/>
              </a:rPr>
              <a:t>เงินรายได้หน่วยงานมี 3 บัญชี จาก BBL, KTB และ TTB</a:t>
            </a:r>
            <a:endParaRPr>
              <a:latin typeface="Cordia New"/>
              <a:ea typeface="Cordia New"/>
              <a:cs typeface="Cordia New"/>
              <a:sym typeface="Cordia New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th-TH">
                <a:latin typeface="Cordia New"/>
                <a:ea typeface="Cordia New"/>
                <a:cs typeface="Cordia New"/>
                <a:sym typeface="Cordia New"/>
              </a:rPr>
              <a:t>น่าจะเริ่มพัฒนาได้ 1 กค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ordia New"/>
              <a:ea typeface="Cordia New"/>
              <a:cs typeface="Cordia New"/>
              <a:sym typeface="Cordia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" name="Google Shape;121;p3"/>
          <p:cNvGraphicFramePr/>
          <p:nvPr/>
        </p:nvGraphicFramePr>
        <p:xfrm>
          <a:off x="1119426" y="6400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{F93104FC-2636-410D-A31F-1D82145D3CAC}</a:tableStyleId>
              </a:tblPr>
              <a:tblGrid>
                <a:gridCol w="1799025"/>
                <a:gridCol w="1448350"/>
                <a:gridCol w="1448350"/>
                <a:gridCol w="1448350"/>
                <a:gridCol w="1448350"/>
                <a:gridCol w="1448350"/>
                <a:gridCol w="14483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รายได้หน่วยงาน</a:t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ผลิตแพทย์เพิ่ม แห่งประเทศไทย</a:t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ผลิตแพทย์เพิ่มเพื่อชาวชนบท</a:t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สวัสดิการจาก มธ</a:t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สปสช</a:t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เงินเดือน</a:t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√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rdia New"/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√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rdia New"/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√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ค่าบริหาร</a:t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rdia New"/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√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OT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rdia New"/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√</a:t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rdia New"/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√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rdia New"/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√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ชำนาญการ</a:t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rdia New"/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√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ค่าตอบแทน หน Sleep lab, HD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rdia New"/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√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พตส</a:t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rdia New"/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√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rdia New"/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√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ใบประกอบ</a:t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rdia New"/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√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rdia New"/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√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เลขที่บัญชี</a:t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rdia New"/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BBL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rdia New"/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KTB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ordia New"/>
                        <a:buNone/>
                      </a:pPr>
                      <a:r>
                        <a:rPr lang="th-TH" sz="2400">
                          <a:latin typeface="Cordia New"/>
                          <a:ea typeface="Cordia New"/>
                          <a:cs typeface="Cordia New"/>
                          <a:sym typeface="Cordia New"/>
                        </a:rPr>
                        <a:t>TTB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t/>
                      </a:r>
                      <a:endParaRPr sz="2400">
                        <a:latin typeface="Cordia New"/>
                        <a:ea typeface="Cordia New"/>
                        <a:cs typeface="Cordia New"/>
                        <a:sym typeface="Cordia New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2026-05-24T12:47:39Z</dcterms:created>
  <dc:creator>Assanee  Tongyoo</dc:creator>
</cp:coreProperties>
</file>